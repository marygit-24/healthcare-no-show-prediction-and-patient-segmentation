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ppt/notesSlides/notesSlide.xml" ContentType="application/vnd.openxmlformats-officedocument.presentationml.notesSlide+xml"/>
  <Override PartName="/ppt/slides/slide3.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notesSlides/notesSlide3.xml" ContentType="application/vnd.openxmlformats-officedocument.presentationml.notesSlide+xml"/>
  <Override PartName="/ppt/slides/slide5.xml" ContentType="application/vnd.openxmlformats-officedocument.presentationml.slide+xml"/>
  <Override PartName="/ppt/notesSlides/notesSlide4.xml" ContentType="application/vnd.openxmlformats-officedocument.presentationml.notesSlide+xml"/>
  <Override PartName="/ppt/slides/slide6.xml" ContentType="application/vnd.openxmlformats-officedocument.presentationml.slide+xml"/>
  <Override PartName="/ppt/notesSlides/notesSlide5.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elId0"/>
    <p:sldId id="258" r:id="RelId1"/>
    <p:sldId id="259" r:id="RelId2"/>
    <p:sldId id="260" r:id="RelId3"/>
    <p:sldId id="261" r:id="Rel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C910"/>
    <a:srgbClr val="D9D9D9"/>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580" autoAdjust="0"/>
    <p:restoredTop sz="86410" autoAdjust="0"/>
  </p:normalViewPr>
  <p:slideViewPr>
    <p:cSldViewPr snapToGrid="0" snapToObjects="1">
      <p:cViewPr varScale="1">
        <p:scale>
          <a:sx n="72" d="100"/>
          <a:sy n="72" d="100"/>
        </p:scale>
        <p:origin x="84" y="756"/>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presProps" Target="presProps.xml" Id="rId3" /><Relationship Type="http://schemas.openxmlformats.org/officeDocument/2006/relationships/slide" Target="slides/slide1.xml" Id="rId2" /><Relationship Type="http://schemas.openxmlformats.org/officeDocument/2006/relationships/slideMaster" Target="slideMasters/slideMaster1.xml" Id="rId1" /><Relationship Type="http://schemas.openxmlformats.org/officeDocument/2006/relationships/tableStyles" Target="tableStyles.xml" Id="rId6" /><Relationship Type="http://schemas.openxmlformats.org/officeDocument/2006/relationships/theme" Target="theme/theme1.xml" Id="rId5" /><Relationship Type="http://schemas.openxmlformats.org/officeDocument/2006/relationships/viewProps" Target="viewProps.xml" Id="rId4" /><Relationship Type="http://schemas.openxmlformats.org/officeDocument/2006/relationships/slide" Target="/ppt/slides/slide2.xml" Id="RelId0" /><Relationship Type="http://schemas.openxmlformats.org/officeDocument/2006/relationships/slide" Target="/ppt/slides/slide3.xml" Id="RelId1" /><Relationship Type="http://schemas.openxmlformats.org/officeDocument/2006/relationships/slide" Target="/ppt/slides/slide4.xml" Id="RelId2" /><Relationship Type="http://schemas.openxmlformats.org/officeDocument/2006/relationships/slide" Target="/ppt/slides/slide5.xml" Id="RelId3" /><Relationship Type="http://schemas.openxmlformats.org/officeDocument/2006/relationships/slide" Target="/ppt/slides/slide6.xml" Id="RelId4" /></Relationships>
</file>

<file path=ppt/notesSlides/notesSlide.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Total Appointments by Month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Appointment Status Distribution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Revenue Split: Insurance vs Patient Payments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2.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Appointments by Clinic Location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Appointments by Specialty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Physician with Highest Missed Appointments (No-show)</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Top 5 Physicians by Patient Volume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3.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Revenue by Clinic Location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Revenue by Speciality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Revenue Split: Insurance vs Patient Payments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Revenue Contribution by Insurance Provider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Patient Volume vs Revenue by Patient City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4.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Diagnosis Intensity by Clinic Location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Medication Dosage Distribution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Top Diagnosed Conditions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Diagnosis by Specialty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Most Prescribed Medications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kpi</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5.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Gender Distribution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Patient by City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Insurance Coverage by Patient Count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Age Group by Gender Distribution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Patient Distribution by Age Group</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74768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14498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26881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04331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11/25/2020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25692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11/25/2020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28091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11/25/2020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35818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93390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884807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553214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982640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p14="http://schemas.microsoft.com/office/powerpoint/2010/main"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11/25/2020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a:t>
            </a:fld>
            <a:endParaRPr lang="en-US"/>
          </a:p>
        </p:txBody>
      </p:sp>
    </p:spTree>
    <p:extLst>
      <p:ext uri="{BB962C8B-B14F-4D97-AF65-F5344CB8AC3E}">
        <p14:creationId xmlns:p14="http://schemas.microsoft.com/office/powerpoint/2010/main" val="14236910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Relationships xmlns="http://schemas.openxmlformats.org/package/2006/relationships"><Relationship Type="http://schemas.openxmlformats.org/officeDocument/2006/relationships/image" Target="../media/image1.png" Id="rId2" /><Relationship Type="http://schemas.openxmlformats.org/officeDocument/2006/relationships/slideLayout" Target="../slideLayouts/slideLayout7.xml" Id="rId1" /><Relationship Type="http://schemas.openxmlformats.org/officeDocument/2006/relationships/image" Target="../media/image3.png" Id="rId5" /><Relationship Type="http://schemas.openxmlformats.org/officeDocument/2006/relationships/image" Target="../media/image2.png" Id="rId4" /><Relationship Type="http://schemas.openxmlformats.org/officeDocument/2006/relationships/hyperlink" Target="https://app.powerbi.com/groups/me/reports/1de2f3d2-cc18-4c57-8afb-a324639243e5?pbi_source=PowerPoint" TargetMode="External" Id="coverSlideHpLink" /></Relationships>
</file>

<file path=ppt/slides/_rels/slide2.xml.rels>&#65279;<?xml version="1.0" encoding="utf-8"?><Relationships xmlns="http://schemas.openxmlformats.org/package/2006/relationships"><Relationship Type="http://schemas.openxmlformats.org/officeDocument/2006/relationships/notesSlide" Target="/ppt/notesSlides/notesSlide.xml" Id="Re6ab7defebe44614" /><Relationship Type="http://schemas.openxmlformats.org/officeDocument/2006/relationships/slideLayout" Target="/ppt/slideLayouts/slideLayout8.xml" Id="Rcd2cb104144a4676" /><Relationship Type="http://schemas.openxmlformats.org/officeDocument/2006/relationships/hyperlink" Target="https://app.powerbi.com/groups/me/reports/1de2f3d2-cc18-4c57-8afb-a324639243e5/?pbi_source=PowerPoint" TargetMode="External" Id="RelId0" /><Relationship Type="http://schemas.openxmlformats.org/officeDocument/2006/relationships/image" Target="/ppt/media/image4.png" Id="imgId49292811" /></Relationships>
</file>

<file path=ppt/slides/_rels/slide3.xml.rels>&#65279;<?xml version="1.0" encoding="utf-8"?><Relationships xmlns="http://schemas.openxmlformats.org/package/2006/relationships"><Relationship Type="http://schemas.openxmlformats.org/officeDocument/2006/relationships/notesSlide" Target="/ppt/notesSlides/notesSlide2.xml" Id="R38fb91c1d9504973" /><Relationship Type="http://schemas.openxmlformats.org/officeDocument/2006/relationships/slideLayout" Target="/ppt/slideLayouts/slideLayout8.xml" Id="R8b49221e02f746f6" /><Relationship Type="http://schemas.openxmlformats.org/officeDocument/2006/relationships/hyperlink" Target="https://app.powerbi.com/groups/me/reports/1de2f3d2-cc18-4c57-8afb-a324639243e5/?pbi_source=PowerPoint" TargetMode="External" Id="RelId1" /><Relationship Type="http://schemas.openxmlformats.org/officeDocument/2006/relationships/image" Target="/ppt/media/image5.png" Id="imgId49292812" /></Relationships>
</file>

<file path=ppt/slides/_rels/slide4.xml.rels>&#65279;<?xml version="1.0" encoding="utf-8"?><Relationships xmlns="http://schemas.openxmlformats.org/package/2006/relationships"><Relationship Type="http://schemas.openxmlformats.org/officeDocument/2006/relationships/notesSlide" Target="/ppt/notesSlides/notesSlide3.xml" Id="R7b5a4745719e4cc9" /><Relationship Type="http://schemas.openxmlformats.org/officeDocument/2006/relationships/slideLayout" Target="/ppt/slideLayouts/slideLayout8.xml" Id="Re385cf11fc7c4766" /><Relationship Type="http://schemas.openxmlformats.org/officeDocument/2006/relationships/hyperlink" Target="https://app.powerbi.com/groups/me/reports/1de2f3d2-cc18-4c57-8afb-a324639243e5/?pbi_source=PowerPoint" TargetMode="External" Id="RelId2" /><Relationship Type="http://schemas.openxmlformats.org/officeDocument/2006/relationships/image" Target="/ppt/media/image6.png" Id="imgId49292813" /></Relationships>
</file>

<file path=ppt/slides/_rels/slide5.xml.rels>&#65279;<?xml version="1.0" encoding="utf-8"?><Relationships xmlns="http://schemas.openxmlformats.org/package/2006/relationships"><Relationship Type="http://schemas.openxmlformats.org/officeDocument/2006/relationships/notesSlide" Target="/ppt/notesSlides/notesSlide4.xml" Id="R53b8a479869c41b0" /><Relationship Type="http://schemas.openxmlformats.org/officeDocument/2006/relationships/slideLayout" Target="/ppt/slideLayouts/slideLayout8.xml" Id="R7c08c7603e504b5c" /><Relationship Type="http://schemas.openxmlformats.org/officeDocument/2006/relationships/hyperlink" Target="https://app.powerbi.com/groups/me/reports/1de2f3d2-cc18-4c57-8afb-a324639243e5/?pbi_source=PowerPoint" TargetMode="External" Id="RelId3" /><Relationship Type="http://schemas.openxmlformats.org/officeDocument/2006/relationships/image" Target="/ppt/media/image7.png" Id="imgId49292814" /></Relationships>
</file>

<file path=ppt/slides/_rels/slide6.xml.rels>&#65279;<?xml version="1.0" encoding="utf-8"?><Relationships xmlns="http://schemas.openxmlformats.org/package/2006/relationships"><Relationship Type="http://schemas.openxmlformats.org/officeDocument/2006/relationships/notesSlide" Target="/ppt/notesSlides/notesSlide5.xml" Id="R3a32921fd7694bd8" /><Relationship Type="http://schemas.openxmlformats.org/officeDocument/2006/relationships/slideLayout" Target="/ppt/slideLayouts/slideLayout8.xml" Id="R402037b98a8040fe" /><Relationship Type="http://schemas.openxmlformats.org/officeDocument/2006/relationships/hyperlink" Target="https://app.powerbi.com/groups/me/reports/1de2f3d2-cc18-4c57-8afb-a324639243e5/?pbi_source=PowerPoint" TargetMode="External" Id="RelId4" /><Relationship Type="http://schemas.openxmlformats.org/officeDocument/2006/relationships/image" Target="/ppt/media/image8.png" Id="imgId49292815" /></Relationships>
</file>

<file path=ppt/slides/slide1.xml><?xml version="1.0" encoding="utf-8"?>
<p:sld xmlns:adec="http://schemas.microsoft.com/office/drawing/2017/decorative"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9" name="Picture 8">
            <a:extLs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Title 1"/>
          <p:cNvSpPr txBox="1">
            <a:spLocks noGrp="1"/>
          </p:cNvSpPr>
          <p:nvPr>
            <p:ph type="title" idx="4294967295"/>
          </p:nvPr>
        </p:nvSpPr>
        <p:spPr>
          <a:xfrm>
            <a:off x="810584" y="2982149"/>
            <a:ext cx="6314017" cy="600075"/>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rmAutofit fontScale="90000"/>
          </a:bodyPr>
          <a:lstStyle>
            <a:lvl1pPr algn="ctr" defTabSz="914400" rtl="0" eaLnBrk="1" latinLnBrk="0" hangingPunct="1">
              <a:lnSpc>
                <a:spcPct val="90000"/>
              </a:lnSpc>
              <a:spcBef>
                <a:spcPct val="0"/>
              </a:spcBef>
              <a:buNone/>
              <a:defRPr sz="4400" b="0" i="0" kern="1200" baseline="0">
                <a:solidFill>
                  <a:schemeClr val="tx1"/>
                </a:solidFill>
                <a:latin typeface="Segoe UI Light" charset="0"/>
                <a:ea typeface="Segoe UI Light" charset="0"/>
                <a:cs typeface="Segoe UI Light"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a:ln>
                  <a:noFill/>
                </a:ln>
                <a:solidFill>
                  <a:srgbClr val="F3C910"/>
                </a:solidFill>
                <a:effectLst/>
                <a:uLnTx/>
                <a:uFillTx/>
                <a:latin typeface="Segoe UI Light" charset="0"/>
                <a:ea typeface="Segoe UI Light" charset="0"/>
                <a:cs typeface="Segoe UI Light" charset="0"/>
              </a:rPr>
              <a:t>Healthcare Operations and Financial Performance Dashboard</a:t>
            </a:r>
            <a:endParaRPr kumimoji="0" lang="en-US" sz="4400" b="0" i="0" u="none" strike="noStrike" kern="1200" cap="none" spc="0" normalizeH="0" baseline="0" noProof="0" dirty="0">
              <a:ln>
                <a:noFill/>
              </a:ln>
              <a:solidFill>
                <a:srgbClr val="F3C910"/>
              </a:solidFill>
              <a:effectLst/>
              <a:uLnTx/>
              <a:uFillTx/>
              <a:latin typeface="Segoe UI Light" charset="0"/>
              <a:ea typeface="Segoe UI Light" charset="0"/>
              <a:cs typeface="Segoe UI Light" charset="0"/>
            </a:endParaRPr>
          </a:p>
        </p:txBody>
      </p:sp>
      <p:sp>
        <p:nvSpPr>
          <p:cNvPr id="13" name="Text Placeholder 2"/>
          <p:cNvSpPr txBox="1">
            <a:spLocks/>
          </p:cNvSpPr>
          <p:nvPr/>
        </p:nvSpPr>
        <p:spPr>
          <a:xfrm>
            <a:off x="853448" y="3658761"/>
            <a:ext cx="1488017" cy="253470"/>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a:buNone/>
              <a:defRPr sz="1200" b="0" i="0" u="sng" kern="1200">
                <a:solidFill>
                  <a:schemeClr val="tx1"/>
                </a:solidFill>
                <a:latin typeface="Segoe UI" charset="0"/>
                <a:ea typeface="Segoe UI" charset="0"/>
                <a:cs typeface="Segoe UI" charset="0"/>
              </a:defRPr>
            </a:lvl1pPr>
            <a:lvl2pPr marL="457200" indent="0" algn="ctr" defTabSz="914400" rtl="0" eaLnBrk="1" latinLnBrk="0" hangingPunct="1">
              <a:lnSpc>
                <a:spcPct val="90000"/>
              </a:lnSpc>
              <a:spcBef>
                <a:spcPts val="500"/>
              </a:spcBef>
              <a:buFont typeface="Arial"/>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9pPr>
          </a:lstStyle>
          <a:p>
            <a:pPr algn="l"/>
            <a:r>
              <a:rPr lang="en-US" dirty="0">
                <a:solidFill>
                  <a:schemeClr val="bg1"/>
                </a:solidFill>
                <a:hlinkClick r:id="coverSlideHpLink"/>
              </a:rPr>
              <a:t>View in Power BI</a:t>
            </a:r>
            <a:endParaRPr lang="en-US" dirty="0">
              <a:solidFill>
                <a:schemeClr val="bg1"/>
              </a:solidFill>
            </a:endParaRPr>
          </a:p>
        </p:txBody>
      </p:sp>
      <p:sp>
        <p:nvSpPr>
          <p:cNvPr id="17" name="TextBox 16"/>
          <p:cNvSpPr txBox="1"/>
          <p:nvPr/>
        </p:nvSpPr>
        <p:spPr>
          <a:xfrm>
            <a:off x="832315" y="5823544"/>
            <a:ext cx="2177716" cy="369332"/>
          </a:xfrm>
          <a:prstGeom prst="rect">
            <a:avLst/>
          </a:prstGeom>
          <a:noFill/>
        </p:spPr>
        <p:txBody>
          <a:bodyPr wrap="square" rtlCol="0">
            <a:spAutoFit/>
          </a:bodyPr>
          <a:lstStyle/>
          <a:p>
            <a:r>
              <a:rPr lang="en-US" sz="900" b="1" i="0" dirty="0">
                <a:solidFill>
                  <a:schemeClr val="bg1"/>
                </a:solidFill>
                <a:latin typeface="Segoe UI Semibold" charset="0"/>
                <a:ea typeface="Segoe UI Semibold" charset="0"/>
                <a:cs typeface="Segoe UI Semibold" charset="0"/>
              </a:rPr>
              <a:t>Downloaded at:</a:t>
            </a:r>
          </a:p>
          <a:p>
            <a:r>
              <a:rPr lang="en-US" sz="900" b="0" i="0" dirty="0">
                <a:solidFill>
                  <a:schemeClr val="bg1"/>
                </a:solidFill>
                <a:latin typeface="Segoe UI" charset="0"/>
                <a:ea typeface="Segoe UI" charset="0"/>
                <a:cs typeface="Segoe UI" charset="0"/>
              </a:rPr>
              <a:t>3/30/2026 2:43:30 PM UTC</a:t>
            </a:r>
          </a:p>
        </p:txBody>
      </p:sp>
      <p:sp>
        <p:nvSpPr>
          <p:cNvPr id="10" name="TextBox 9"/>
          <p:cNvSpPr txBox="1"/>
          <p:nvPr/>
        </p:nvSpPr>
        <p:spPr>
          <a:xfrm>
            <a:off x="828512" y="5407903"/>
            <a:ext cx="2177716" cy="369332"/>
          </a:xfrm>
          <a:prstGeom prst="rect">
            <a:avLst/>
          </a:prstGeom>
          <a:noFill/>
        </p:spPr>
        <p:txBody>
          <a:bodyPr wrap="square" rtlCol="0">
            <a:spAutoFit/>
          </a:bodyPr>
          <a:lstStyle/>
          <a:p>
            <a:r>
              <a:rPr lang="en-US" sz="900" b="1" dirty="0">
                <a:solidFill>
                  <a:schemeClr val="bg1"/>
                </a:solidFill>
                <a:latin typeface="Segoe UI Semibold" charset="0"/>
                <a:ea typeface="Segoe UI Semibold" charset="0"/>
                <a:cs typeface="Segoe UI Semibold" charset="0"/>
              </a:rPr>
              <a:t>Last data refresh:</a:t>
            </a:r>
            <a:endParaRPr lang="en-US" sz="900" b="1" i="0" dirty="0">
              <a:solidFill>
                <a:schemeClr val="bg1"/>
              </a:solidFill>
              <a:latin typeface="Segoe UI Semibold" charset="0"/>
              <a:ea typeface="Segoe UI Semibold" charset="0"/>
              <a:cs typeface="Segoe UI Semibold" charset="0"/>
            </a:endParaRPr>
          </a:p>
          <a:p>
            <a:r>
              <a:rPr lang="en-US" sz="900" dirty="0">
                <a:solidFill>
                  <a:schemeClr val="bg1"/>
                </a:solidFill>
                <a:latin typeface="Segoe UI" charset="0"/>
                <a:ea typeface="Segoe UI" charset="0"/>
                <a:cs typeface="Segoe UI" charset="0"/>
              </a:rPr>
              <a:t>3/30/2026 2:28:42 PM UTC</a:t>
            </a:r>
            <a:endParaRPr lang="en-US" sz="900" b="0" i="0" dirty="0">
              <a:solidFill>
                <a:schemeClr val="bg1"/>
              </a:solidFill>
              <a:latin typeface="Segoe UI" charset="0"/>
              <a:ea typeface="Segoe UI" charset="0"/>
              <a:cs typeface="Segoe UI" charset="0"/>
            </a:endParaRPr>
          </a:p>
        </p:txBody>
      </p:sp>
      <p:pic>
        <p:nvPicPr>
          <p:cNvPr id="16" name="Picture 15" descr="Microsoft Power BI"/>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3544" y="722376"/>
            <a:ext cx="1490690" cy="245805"/>
          </a:xfrm>
          <a:prstGeom prst="rect">
            <a:avLst/>
          </a:prstGeom>
        </p:spPr>
      </p:pic>
      <p:pic>
        <p:nvPicPr>
          <p:cNvPr id="18" name="Picture 17">
            <a:extLs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39696" y="3694176"/>
            <a:ext cx="162027" cy="153025"/>
          </a:xfrm>
          <a:prstGeom prst="rect">
            <a:avLst/>
          </a:prstGeom>
        </p:spPr>
      </p:pic>
    </p:spTree>
    <p:extLst>
      <p:ext uri="{BB962C8B-B14F-4D97-AF65-F5344CB8AC3E}">
        <p14:creationId xmlns:p14="http://schemas.microsoft.com/office/powerpoint/2010/main" val="7630729"/>
      </p:ext>
    </p:extLst>
  </p:cSld>
  <p:clrMapOvr>
    <a:masterClrMapping/>
  </p:clrMapOvr>
</p:sld>
</file>

<file path=ppt/slides/slide2.xml><?xml version="1.0" encoding="utf-8"?>
<p:sld xmlns:p="http://schemas.openxmlformats.org/presentationml/2006/main">
  <p:cSld>
    <p:spTree>
      <p:nvGrpSpPr>
        <p:cNvPr id="1" name=""/>
        <p:cNvGrpSpPr/>
        <p:nvPr/>
      </p:nvGrpSpPr>
      <p:grpSpPr/>
      <p:pic>
        <p:nvPicPr>
          <p:cNvPr id="3" name="Picture" title="This slide contains the following visuals: card ,card ,card ,card ,card ,card ,Total Appointments by Month ,Appointment Status Distribution ,Revenue Split: Insurance vs Patient Payments ,actionButton ,image ,actionButton ,image ,actionButton ,image ,actionButton ,image ,actionButton ,image ,textbox. Please refer to the notes on this slide for details">
            <a:hlinkClick xmlns:r="http://schemas.openxmlformats.org/officeDocument/2006/relationships" xmlns:a="http://schemas.openxmlformats.org/drawingml/2006/main" r:id="RelId0"/>
          </p:cNvPr>
          <p:cNvPicPr>
            <a:picLocks xmlns:a="http://schemas.openxmlformats.org/drawingml/2006/main" noChangeAspect="1"/>
          </p:cNvPicPr>
          <p:nvPr/>
        </p:nvPicPr>
        <p:blipFill>
          <a:blip xmlns:r="http://schemas.openxmlformats.org/officeDocument/2006/relationships" xmlns:a="http://schemas.openxmlformats.org/drawingml/2006/main" r:embed="imgId49292811"/>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Overview</a:t>
            </a:r>
          </a:p>
        </p:txBody>
      </p:sp>
    </p:spTree>
    <p:clrMapOvr>
      <a:masterClrMapping xmlns:a="http://schemas.openxmlformats.org/drawingml/2006/main"/>
    </p:clrMapOvr>
  </p:cSld>
</p:sld>
</file>

<file path=ppt/slides/slide3.xml><?xml version="1.0" encoding="utf-8"?>
<p:sld xmlns:p="http://schemas.openxmlformats.org/presentationml/2006/main">
  <p:cSld>
    <p:spTree>
      <p:nvGrpSpPr>
        <p:cNvPr id="1" name=""/>
        <p:cNvGrpSpPr/>
        <p:nvPr/>
      </p:nvGrpSpPr>
      <p:grpSpPr/>
      <p:pic>
        <p:nvPicPr>
          <p:cNvPr id="3" name="Picture" title="This slide contains the following visuals: Appointments by Clinic Location ,Appointments by Specialty ,Physician with Highest Missed Appointments (No-show) ,Top 5 Physicians by Patient Volume ,tableEx ,textbox ,tableEx ,tableEx. Please refer to the notes on this slide for details">
            <a:hlinkClick xmlns:r="http://schemas.openxmlformats.org/officeDocument/2006/relationships" xmlns:a="http://schemas.openxmlformats.org/drawingml/2006/main" r:id="RelId1"/>
          </p:cNvPr>
          <p:cNvPicPr>
            <a:picLocks xmlns:a="http://schemas.openxmlformats.org/drawingml/2006/main" noChangeAspect="1"/>
          </p:cNvPicPr>
          <p:nvPr/>
        </p:nvPicPr>
        <p:blipFill>
          <a:blip xmlns:r="http://schemas.openxmlformats.org/officeDocument/2006/relationships" xmlns:a="http://schemas.openxmlformats.org/drawingml/2006/main" r:embed="imgId49292812"/>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Operations</a:t>
            </a:r>
          </a:p>
        </p:txBody>
      </p:sp>
    </p:spTree>
    <p:clrMapOvr>
      <a:masterClrMapping xmlns:a="http://schemas.openxmlformats.org/drawingml/2006/main"/>
    </p:clrMapOvr>
  </p:cSld>
</p:sld>
</file>

<file path=ppt/slides/slide4.xml><?xml version="1.0" encoding="utf-8"?>
<p:sld xmlns:p="http://schemas.openxmlformats.org/presentationml/2006/main">
  <p:cSld>
    <p:spTree>
      <p:nvGrpSpPr>
        <p:cNvPr id="1" name=""/>
        <p:cNvGrpSpPr/>
        <p:nvPr/>
      </p:nvGrpSpPr>
      <p:grpSpPr/>
      <p:pic>
        <p:nvPicPr>
          <p:cNvPr id="3" name="Picture" title="This slide contains the following visuals: card ,card ,card ,card ,Revenue by Clinic Location ,Revenue by Speciality ,Revenue Split: Insurance vs Patient Payments ,Revenue Contribution by Insurance Provider ,Patient Volume vs Revenue by Patient City ,textbox. Please refer to the notes on this slide for details">
            <a:hlinkClick xmlns:r="http://schemas.openxmlformats.org/officeDocument/2006/relationships" xmlns:a="http://schemas.openxmlformats.org/drawingml/2006/main" r:id="RelId2"/>
          </p:cNvPr>
          <p:cNvPicPr>
            <a:picLocks xmlns:a="http://schemas.openxmlformats.org/drawingml/2006/main" noChangeAspect="1"/>
          </p:cNvPicPr>
          <p:nvPr/>
        </p:nvPicPr>
        <p:blipFill>
          <a:blip xmlns:r="http://schemas.openxmlformats.org/officeDocument/2006/relationships" xmlns:a="http://schemas.openxmlformats.org/drawingml/2006/main" r:embed="imgId49292813"/>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Financials</a:t>
            </a:r>
          </a:p>
        </p:txBody>
      </p:sp>
    </p:spTree>
    <p:clrMapOvr>
      <a:masterClrMapping xmlns:a="http://schemas.openxmlformats.org/drawingml/2006/main"/>
    </p:clrMapOvr>
  </p:cSld>
</p:sld>
</file>

<file path=ppt/slides/slide5.xml><?xml version="1.0" encoding="utf-8"?>
<p:sld xmlns:p="http://schemas.openxmlformats.org/presentationml/2006/main">
  <p:cSld>
    <p:spTree>
      <p:nvGrpSpPr>
        <p:cNvPr id="1" name=""/>
        <p:cNvGrpSpPr/>
        <p:nvPr/>
      </p:nvGrpSpPr>
      <p:grpSpPr/>
      <p:pic>
        <p:nvPicPr>
          <p:cNvPr id="3" name="Picture" title="This slide contains the following visuals: Diagnosis Intensity by Clinic Location ,card ,card ,card ,Medication Dosage Distribution ,Top Diagnosed Conditions ,Diagnosis by Specialty ,Most Prescribed Medications ,textbox ,kpi. Please refer to the notes on this slide for details">
            <a:hlinkClick xmlns:r="http://schemas.openxmlformats.org/officeDocument/2006/relationships" xmlns:a="http://schemas.openxmlformats.org/drawingml/2006/main" r:id="RelId3"/>
          </p:cNvPr>
          <p:cNvPicPr>
            <a:picLocks xmlns:a="http://schemas.openxmlformats.org/drawingml/2006/main" noChangeAspect="1"/>
          </p:cNvPicPr>
          <p:nvPr/>
        </p:nvPicPr>
        <p:blipFill>
          <a:blip xmlns:r="http://schemas.openxmlformats.org/officeDocument/2006/relationships" xmlns:a="http://schemas.openxmlformats.org/drawingml/2006/main" r:embed="imgId49292814"/>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Clinical</a:t>
            </a:r>
          </a:p>
        </p:txBody>
      </p:sp>
    </p:spTree>
    <p:clrMapOvr>
      <a:masterClrMapping xmlns:a="http://schemas.openxmlformats.org/drawingml/2006/main"/>
    </p:clrMapOvr>
  </p:cSld>
</p:sld>
</file>

<file path=ppt/slides/slide6.xml><?xml version="1.0" encoding="utf-8"?>
<p:sld xmlns:p="http://schemas.openxmlformats.org/presentationml/2006/main">
  <p:cSld>
    <p:spTree>
      <p:nvGrpSpPr>
        <p:cNvPr id="1" name=""/>
        <p:cNvGrpSpPr/>
        <p:nvPr/>
      </p:nvGrpSpPr>
      <p:grpSpPr/>
      <p:pic>
        <p:nvPicPr>
          <p:cNvPr id="3" name="Picture" title="This slide contains the following visuals: card ,Gender Distribution ,textbox ,Patient by City ,Insurance Coverage by Patient Count ,card ,Age Group by Gender Distribution ,Patient Distribution by Age Group. Please refer to the notes on this slide for details">
            <a:hlinkClick xmlns:r="http://schemas.openxmlformats.org/officeDocument/2006/relationships" xmlns:a="http://schemas.openxmlformats.org/drawingml/2006/main" r:id="RelId4"/>
          </p:cNvPr>
          <p:cNvPicPr>
            <a:picLocks xmlns:a="http://schemas.openxmlformats.org/drawingml/2006/main" noChangeAspect="1"/>
          </p:cNvPicPr>
          <p:nvPr/>
        </p:nvPicPr>
        <p:blipFill>
          <a:blip xmlns:r="http://schemas.openxmlformats.org/officeDocument/2006/relationships" xmlns:a="http://schemas.openxmlformats.org/drawingml/2006/main" r:embed="imgId49292815"/>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Demographics</a:t>
            </a:r>
          </a:p>
        </p:txBody>
      </p:sp>
    </p:spTree>
    <p:clrMapOvr>
      <a:masterClrMapping xmlns:a="http://schemas.openxmlformats.org/drawingml/2006/main"/>
    </p:clrMapOvr>
  </p:cSld>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TotalTime>
  <Words>27</Words>
  <Application>Microsoft Office PowerPoint</Application>
  <PresentationFormat>Widescreen</PresentationFormat>
  <Paragraphs>6</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Segoe UI</vt:lpstr>
      <vt:lpstr>Segoe UI Light</vt:lpstr>
      <vt:lpstr>Segoe UI Semibold</vt:lpstr>
      <vt:lpstr>Custom Design</vt:lpstr>
      <vt:lpstr>#Name of Power BI report#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 BI</dc:creator>
  <cp:lastModifiedBy>Brian Butler</cp:lastModifiedBy>
  <cp:revision>4</cp:revision>
  <dcterms:created xsi:type="dcterms:W3CDTF">2016-09-04T11:54:55Z</dcterms:created>
  <dcterms:modified xsi:type="dcterms:W3CDTF">2020-11-25T15:29:01Z</dcterms:modified>
</cp:coreProperties>
</file>